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02CA59-2860-4DD2-B004-D0C7F132C69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2B2B2B"/>
    <a:srgbClr val="1F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780B-C1F4-5783-953D-066F7A58D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FEE1F-B57D-520E-BB28-4E1C18A0C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4968D-BD48-3E8E-466F-A0F90672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A4CDE-DFF9-A875-249B-82F99B93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990CF-6073-DC48-674A-4037765C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7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4BBA-ECE8-5651-559B-8B50D084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9244-ADCC-84ED-8158-4CAB98A76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8BB57-C660-9D85-ECAF-0D1B5EB7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C46BF-807F-111F-C0F9-3318E05D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078C-20FD-9480-D133-31B62E95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31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992E-2423-8CF0-5F1C-42D90849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8716A-B448-BEC6-28FC-6B0ADBB4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32FD-398D-F336-6914-6766294F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8BF83-CA57-E707-873F-897FC8A5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88D0B-2398-021A-5269-3E93C651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0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FC38-1922-670E-DA83-F4EB1A81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1861-BEEC-2645-6F35-BE5F3BFB0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2BC33-18A0-5BD0-04C3-EF1EC369D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8FBA3-DCD3-9B9E-DDB3-7B215DCB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E5575-8AE5-D2A4-A455-776BC3C0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3CC-29B2-CAE5-2200-AEEA75AC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36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12E9-4007-270C-59C4-C2CE9E96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77BE6-D3BE-782D-6CD0-C0B417E8A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020B6-4280-F1D7-7917-16104FBCB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DC75B-5A73-C1BA-2C81-48977C6E9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DA875-BA26-0F58-4630-6BA3F3C61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28515-EA84-50C9-B723-ED30FC62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DFD8B-F82E-723B-AC28-C10B4B31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5B977-0AE3-7BAF-F92B-68464153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39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C74F-DE04-A494-0DAC-634A1B20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456AD-877F-3DC5-4D18-B8630420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2EC14-4C97-F34B-8E14-B8BC1BA1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5EC44-E8D5-E7BF-012A-5A44A701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5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217953-1B21-B12E-9D69-232A604D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D3456-98B1-5F5B-C40D-A25A2845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0ED81-F307-0EC1-D03A-D30E7D06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9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4D7A-74BC-D7D3-5A26-CEC9D2CF0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F621-8C00-8147-9FE1-06A16D53D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9C30D-E619-A4AA-7C61-57EB88E6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3C42A-8CFF-F7E9-E558-168E3B4A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4184B-5884-F024-D9A0-C67DAC9E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547CE-BAB2-B78E-D465-6B5A198C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73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144A-4578-68D8-55F6-2799129D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7E935-2292-9E10-7B72-8E2E13C18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21D90-83E5-3EBD-5706-EF4C16614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FA94E-2D82-412B-0528-D0F5D26A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04D07-A2F3-742E-4810-75D857FA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37673-7B39-2A1C-6118-56676130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1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858E-30DF-63A8-778C-85582DD3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FF189-2B4A-1D32-CC11-B2ED414DF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C1CDD-152A-43BD-BB34-CA9807F0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16F92-6973-7F22-CE5A-4A0F4441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C2FB-D4F6-B2ED-CABE-46C0C3D0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098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10E80-15E5-149C-48A4-41C5413EC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68EF0-21ED-8D33-F631-41BF49D7A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1AD6-3B1A-7E4D-CB2D-D145BBF7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52328-211B-EEAA-ECB8-A063F65C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6D2F2-0BE1-B880-A119-88373A5B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6F827F-64C5-5BB3-6475-2294A94B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5C262-AEC5-A6F3-C22C-30307AE13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A0194-FAE0-3195-6066-D28E7370B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E45EE-55D7-472D-8A7E-991716649A3F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9D10B-7816-D6E7-4231-11BB4D873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EA62E-A50A-FD8C-FD11-6403CBB82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EB1B5-329D-4F0B-BEAD-0588920C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14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2BC035-8FA2-8DE8-52E7-49418F3C909E}"/>
              </a:ext>
            </a:extLst>
          </p:cNvPr>
          <p:cNvSpPr/>
          <p:nvPr/>
        </p:nvSpPr>
        <p:spPr>
          <a:xfrm>
            <a:off x="0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B31F5-484B-7F89-325B-2EA5FD95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521" y="99807"/>
            <a:ext cx="10569677" cy="1030896"/>
          </a:xfrm>
        </p:spPr>
        <p:txBody>
          <a:bodyPr>
            <a:noAutofit/>
          </a:bodyPr>
          <a:lstStyle/>
          <a:p>
            <a:r>
              <a:rPr lang="en-IN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BCF34F-9B0B-60AE-0BD9-58E8D4FD0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521" y="1248697"/>
            <a:ext cx="10569677" cy="5427405"/>
          </a:xfrm>
        </p:spPr>
        <p:txBody>
          <a:bodyPr>
            <a:normAutofit/>
          </a:bodyPr>
          <a:lstStyle/>
          <a:p>
            <a:r>
              <a:rPr lang="en-US" sz="2900" b="1" i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Understanding Customer Behavior &amp; Improving Retention</a:t>
            </a: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IN" sz="3200" b="1" dirty="0">
                <a:solidFill>
                  <a:srgbClr val="2B2B2B"/>
                </a:solidFill>
              </a:rPr>
              <a:t>Presented by: </a:t>
            </a:r>
            <a:r>
              <a:rPr lang="en-IN" sz="3200" dirty="0">
                <a:solidFill>
                  <a:srgbClr val="2B2B2B"/>
                </a:solidFill>
              </a:rPr>
              <a:t>Mahalakshmi Yadav</a:t>
            </a:r>
          </a:p>
          <a:p>
            <a:r>
              <a:rPr lang="en-IN" sz="3200" b="1" dirty="0">
                <a:solidFill>
                  <a:srgbClr val="2B2B2B"/>
                </a:solidFill>
              </a:rPr>
              <a:t>Tools:</a:t>
            </a:r>
            <a:r>
              <a:rPr lang="en-IN" sz="3200" dirty="0">
                <a:solidFill>
                  <a:srgbClr val="2B2B2B"/>
                </a:solidFill>
              </a:rPr>
              <a:t> Python | SQL | Power BI</a:t>
            </a:r>
            <a:endParaRPr lang="en-US" sz="2900" i="1" dirty="0">
              <a:solidFill>
                <a:srgbClr val="2B2B2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IN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F9E868-D10D-62F9-CA1D-6D95115443AE}"/>
              </a:ext>
            </a:extLst>
          </p:cNvPr>
          <p:cNvCxnSpPr>
            <a:cxnSpLocks/>
          </p:cNvCxnSpPr>
          <p:nvPr/>
        </p:nvCxnSpPr>
        <p:spPr>
          <a:xfrm>
            <a:off x="1474839" y="1130710"/>
            <a:ext cx="104123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84411F4-09F1-1233-FB9F-9BBD84E426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368" y="113954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0540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CEBD8-D9CD-7816-7C53-2855DA62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8B5D6B-D0BD-26F0-0B2F-5AD48BF5ABCA}"/>
              </a:ext>
            </a:extLst>
          </p:cNvPr>
          <p:cNvSpPr/>
          <p:nvPr/>
        </p:nvSpPr>
        <p:spPr>
          <a:xfrm>
            <a:off x="10953135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143F3-620B-20F3-469C-8EC8F4536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84" y="99807"/>
            <a:ext cx="10648335" cy="912908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3B133-2A95-729D-699D-897A36A0A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12" y="1268362"/>
            <a:ext cx="10609007" cy="542740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churn refers to customers discontinuing a company’s service.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 competitive industries, customer retention is critical, as acquiring new customers is significantly more expensive than retaining existing ones.</a:t>
            </a:r>
          </a:p>
          <a:p>
            <a:pPr algn="l"/>
            <a:r>
              <a:rPr lang="en-US" sz="3500" b="1" i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of the Project: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Identify customers at risk of churning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Analyze key factors influencing churn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Provide data-driven insights to improve retention strategies </a:t>
            </a: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IN" sz="2900" b="1" i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A0FF80-1466-EC3E-BE1E-54CB7A9DF8F2}"/>
              </a:ext>
            </a:extLst>
          </p:cNvPr>
          <p:cNvCxnSpPr>
            <a:cxnSpLocks/>
          </p:cNvCxnSpPr>
          <p:nvPr/>
        </p:nvCxnSpPr>
        <p:spPr>
          <a:xfrm>
            <a:off x="275303" y="934064"/>
            <a:ext cx="104123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BC7E8FC-7CF3-2653-84A2-AF44DBA930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104130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55976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7176F-BBFE-CEC1-1092-C422A5D2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04AC91-3BFF-DA37-2058-94D180F484B9}"/>
              </a:ext>
            </a:extLst>
          </p:cNvPr>
          <p:cNvSpPr/>
          <p:nvPr/>
        </p:nvSpPr>
        <p:spPr>
          <a:xfrm>
            <a:off x="0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781B9-BFE7-5230-FC42-4C0F519C8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019" y="88490"/>
            <a:ext cx="10648335" cy="845570"/>
          </a:xfrm>
        </p:spPr>
        <p:txBody>
          <a:bodyPr>
            <a:noAutofit/>
          </a:bodyPr>
          <a:lstStyle/>
          <a:p>
            <a:r>
              <a:rPr lang="en-IN" sz="58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 &amp; Technologies Used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24FDBC-0EA2-6552-0774-E962F5669A1D}"/>
              </a:ext>
            </a:extLst>
          </p:cNvPr>
          <p:cNvCxnSpPr>
            <a:cxnSpLocks/>
          </p:cNvCxnSpPr>
          <p:nvPr/>
        </p:nvCxnSpPr>
        <p:spPr>
          <a:xfrm>
            <a:off x="1435510" y="855405"/>
            <a:ext cx="104123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51FC419-33F3-0D40-848B-18D85B2C6F7F}"/>
              </a:ext>
            </a:extLst>
          </p:cNvPr>
          <p:cNvSpPr/>
          <p:nvPr/>
        </p:nvSpPr>
        <p:spPr>
          <a:xfrm>
            <a:off x="1347019" y="1032381"/>
            <a:ext cx="10500850" cy="1533831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Python</a:t>
            </a:r>
            <a:endParaRPr lang="en-US" sz="2400" dirty="0">
              <a:solidFill>
                <a:srgbClr val="F5F7FA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preprocessing and cleaning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Handling missing and inconsistent values</a:t>
            </a:r>
          </a:p>
          <a:p>
            <a:pPr algn="ctr"/>
            <a:endParaRPr lang="en-IN" dirty="0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971987C9-99AF-F92C-95C4-DDB7CD93D16E}"/>
              </a:ext>
            </a:extLst>
          </p:cNvPr>
          <p:cNvSpPr/>
          <p:nvPr/>
        </p:nvSpPr>
        <p:spPr>
          <a:xfrm>
            <a:off x="1391264" y="3020960"/>
            <a:ext cx="10500850" cy="1533832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extraction and transformation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Querying and aggregating customer data</a:t>
            </a:r>
          </a:p>
          <a:p>
            <a:pPr algn="ctr"/>
            <a:endParaRPr lang="en-IN" dirty="0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5292C9F-4416-26E9-CF8F-5FBA9545F427}"/>
              </a:ext>
            </a:extLst>
          </p:cNvPr>
          <p:cNvSpPr/>
          <p:nvPr/>
        </p:nvSpPr>
        <p:spPr>
          <a:xfrm>
            <a:off x="1347019" y="5009540"/>
            <a:ext cx="10500850" cy="1533833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Interactive dashboard development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KPI tracking and visual storytelling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Advanced features like tooltips and bookmarks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11283-7CD7-ACE1-D5AA-23F13EFA14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865" y="81404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36876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6D9DB-600D-097B-6C30-941CC1C9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6FAC53-F657-48BB-C253-6118A41F51CC}"/>
              </a:ext>
            </a:extLst>
          </p:cNvPr>
          <p:cNvSpPr/>
          <p:nvPr/>
        </p:nvSpPr>
        <p:spPr>
          <a:xfrm>
            <a:off x="10953135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D48DD-21B9-FEE5-D485-486EAE000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5" y="88490"/>
            <a:ext cx="10648335" cy="845570"/>
          </a:xfrm>
        </p:spPr>
        <p:txBody>
          <a:bodyPr>
            <a:noAutofit/>
          </a:bodyPr>
          <a:lstStyle/>
          <a:p>
            <a:r>
              <a:rPr lang="en-IN" sz="58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1869D5-4DAF-B3F3-71E4-06A86E9FFCF8}"/>
              </a:ext>
            </a:extLst>
          </p:cNvPr>
          <p:cNvCxnSpPr>
            <a:cxnSpLocks/>
          </p:cNvCxnSpPr>
          <p:nvPr/>
        </p:nvCxnSpPr>
        <p:spPr>
          <a:xfrm>
            <a:off x="309716" y="776747"/>
            <a:ext cx="104123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ACEBDD-B2DC-AFE0-A177-2ED93BD31127}"/>
              </a:ext>
            </a:extLst>
          </p:cNvPr>
          <p:cNvSpPr txBox="1"/>
          <p:nvPr/>
        </p:nvSpPr>
        <p:spPr>
          <a:xfrm>
            <a:off x="309716" y="1170038"/>
            <a:ext cx="1041235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dataset contains customer information from a telecom domain.</a:t>
            </a:r>
          </a:p>
          <a:p>
            <a:r>
              <a:rPr lang="en-IN" sz="3000" b="1" i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Highlights: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Customers: ~7,000+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Features: 20+ variables </a:t>
            </a:r>
          </a:p>
          <a:p>
            <a:r>
              <a:rPr lang="en-IN" sz="3000" b="1" i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Attributes: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Demographics:</a:t>
            </a: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Gender, Senior Citizen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Services:</a:t>
            </a: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Internet Service, Phone Service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Account Details:</a:t>
            </a: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Contract Type, Payment Method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Financials:</a:t>
            </a: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Monthly Charges, Total Charges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Target Variable:</a:t>
            </a:r>
            <a:r>
              <a:rPr lang="en-IN" sz="30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Churn (Yes/No) or (1/0)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8B319-0F0B-8189-3E8C-76D03E9BC6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88490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13809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F1E2F-ED51-D1A0-C332-424FBF8E9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EB4AE7-63EF-70CD-50B3-6E5BE2A15CE7}"/>
              </a:ext>
            </a:extLst>
          </p:cNvPr>
          <p:cNvSpPr/>
          <p:nvPr/>
        </p:nvSpPr>
        <p:spPr>
          <a:xfrm>
            <a:off x="0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0C243-6815-BDE1-F653-07CC9EEED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5" y="94530"/>
            <a:ext cx="10648335" cy="845571"/>
          </a:xfrm>
        </p:spPr>
        <p:txBody>
          <a:bodyPr>
            <a:noAutofit/>
          </a:bodyPr>
          <a:lstStyle/>
          <a:p>
            <a:r>
              <a:rPr lang="en-IN" sz="52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Cleaning &amp; Preparation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7D579E-25E9-AACD-B663-F9078DCEF968}"/>
              </a:ext>
            </a:extLst>
          </p:cNvPr>
          <p:cNvCxnSpPr>
            <a:cxnSpLocks/>
          </p:cNvCxnSpPr>
          <p:nvPr/>
        </p:nvCxnSpPr>
        <p:spPr>
          <a:xfrm>
            <a:off x="1366685" y="835741"/>
            <a:ext cx="10648334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9C0E6D-2E4E-F824-7D6D-4F03C5F4328D}"/>
              </a:ext>
            </a:extLst>
          </p:cNvPr>
          <p:cNvSpPr txBox="1"/>
          <p:nvPr/>
        </p:nvSpPr>
        <p:spPr>
          <a:xfrm>
            <a:off x="1366685" y="1228397"/>
            <a:ext cx="106483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preprocessing was performed to ensure accuracy and reliability of analysis:</a:t>
            </a:r>
          </a:p>
          <a:p>
            <a:endParaRPr lang="en-US" sz="3400" dirty="0">
              <a:solidFill>
                <a:srgbClr val="2B2B2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Converted data types (e.g., Total Charges to numeric format)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Handled missing and null values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Removed inconsistencies and errors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Standardized categorical variables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Validated data for analytical consistency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E0D12-074D-A2A1-7756-88E1413DCF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376" y="92876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74012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AB0C1-B103-D642-A921-239F7853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231A0E-AA56-9EA1-6465-329B1E13483D}"/>
              </a:ext>
            </a:extLst>
          </p:cNvPr>
          <p:cNvSpPr/>
          <p:nvPr/>
        </p:nvSpPr>
        <p:spPr>
          <a:xfrm>
            <a:off x="10953135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E8CF9-96FB-F650-00A3-04D129D1D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19" y="94531"/>
            <a:ext cx="10697496" cy="845570"/>
          </a:xfrm>
        </p:spPr>
        <p:txBody>
          <a:bodyPr>
            <a:noAutofit/>
          </a:bodyPr>
          <a:lstStyle/>
          <a:p>
            <a:r>
              <a:rPr lang="en-IN" sz="52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Overview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56FD1C-7433-3EC4-DB84-CD823B6A5DF2}"/>
              </a:ext>
            </a:extLst>
          </p:cNvPr>
          <p:cNvCxnSpPr>
            <a:cxnSpLocks/>
          </p:cNvCxnSpPr>
          <p:nvPr/>
        </p:nvCxnSpPr>
        <p:spPr>
          <a:xfrm>
            <a:off x="127817" y="841779"/>
            <a:ext cx="10648334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D8DB22A-0704-30CD-5FCD-F188088BD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7" y="940101"/>
            <a:ext cx="10697495" cy="58233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7FD446-7DED-0C32-CBD1-9C4E15F411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7" y="104952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4407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827F7-80DC-EFF1-787B-1F1447B9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8D83B2-1DD8-7572-111D-01C178726B19}"/>
              </a:ext>
            </a:extLst>
          </p:cNvPr>
          <p:cNvSpPr/>
          <p:nvPr/>
        </p:nvSpPr>
        <p:spPr>
          <a:xfrm>
            <a:off x="0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2C299-D7FB-FCE8-2ADA-F6F8426BE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2" y="94531"/>
            <a:ext cx="10697496" cy="845570"/>
          </a:xfrm>
        </p:spPr>
        <p:txBody>
          <a:bodyPr>
            <a:noAutofit/>
          </a:bodyPr>
          <a:lstStyle/>
          <a:p>
            <a:r>
              <a:rPr lang="en-IN" sz="52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Analysis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E632A5-77A2-074E-F1F0-9D4B8360F654}"/>
              </a:ext>
            </a:extLst>
          </p:cNvPr>
          <p:cNvCxnSpPr>
            <a:cxnSpLocks/>
          </p:cNvCxnSpPr>
          <p:nvPr/>
        </p:nvCxnSpPr>
        <p:spPr>
          <a:xfrm>
            <a:off x="1366682" y="792618"/>
            <a:ext cx="10648334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0C03AA-F6D7-699D-A293-15CE5503B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84" y="940101"/>
            <a:ext cx="10697496" cy="58233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ACE048-1486-8D96-CD11-D0F328E76F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536" y="94531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57337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8422C-B031-F885-3335-882B6090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B100C6-EF3D-1942-BB4B-34B8BAA36992}"/>
              </a:ext>
            </a:extLst>
          </p:cNvPr>
          <p:cNvSpPr/>
          <p:nvPr/>
        </p:nvSpPr>
        <p:spPr>
          <a:xfrm>
            <a:off x="10953135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76DF9-FA52-8D7B-A37B-F48DAA23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5" y="88490"/>
            <a:ext cx="10648335" cy="845570"/>
          </a:xfrm>
        </p:spPr>
        <p:txBody>
          <a:bodyPr>
            <a:noAutofit/>
          </a:bodyPr>
          <a:lstStyle/>
          <a:p>
            <a:r>
              <a:rPr lang="en-IN" sz="58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Insights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7BC3A4-4844-338E-4C8B-ED369F0DA79F}"/>
              </a:ext>
            </a:extLst>
          </p:cNvPr>
          <p:cNvCxnSpPr>
            <a:cxnSpLocks/>
          </p:cNvCxnSpPr>
          <p:nvPr/>
        </p:nvCxnSpPr>
        <p:spPr>
          <a:xfrm>
            <a:off x="344131" y="934060"/>
            <a:ext cx="104123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99B4D5-3BCA-8FE0-2201-B037D243CCC6}"/>
              </a:ext>
            </a:extLst>
          </p:cNvPr>
          <p:cNvSpPr txBox="1"/>
          <p:nvPr/>
        </p:nvSpPr>
        <p:spPr>
          <a:xfrm>
            <a:off x="206478" y="1170038"/>
            <a:ext cx="1064833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analysis reveals several important business insights: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 with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month-to-month contracts</a:t>
            </a: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exhibit the highest churn, indicating low long-term commitment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Users with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fiber optic internet service</a:t>
            </a: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show higher churn, possibly due to pricing or service expectations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 with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higher monthly charges</a:t>
            </a: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are more likely to discontinue services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Long-term contract customers demonstrate significantly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lower churn rates</a:t>
            </a:r>
            <a:endParaRPr lang="en-US" sz="3200" dirty="0">
              <a:solidFill>
                <a:srgbClr val="2B2B2B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9C2F8-11D5-3448-281C-1462F006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88489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18703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0F832-8006-2359-07D7-A0451218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26CFB0-D025-2641-2778-912C5520D54C}"/>
              </a:ext>
            </a:extLst>
          </p:cNvPr>
          <p:cNvSpPr/>
          <p:nvPr/>
        </p:nvSpPr>
        <p:spPr>
          <a:xfrm>
            <a:off x="0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C8D03-CD18-4187-65E3-CA1830D1D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59" y="94531"/>
            <a:ext cx="11729884" cy="677145"/>
          </a:xfrm>
        </p:spPr>
        <p:txBody>
          <a:bodyPr>
            <a:noAutofit/>
          </a:bodyPr>
          <a:lstStyle/>
          <a:p>
            <a:r>
              <a:rPr lang="en-IN" sz="40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 &amp; Business Recommendations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481155-C659-F857-6218-1177D7A89885}"/>
              </a:ext>
            </a:extLst>
          </p:cNvPr>
          <p:cNvCxnSpPr>
            <a:cxnSpLocks/>
          </p:cNvCxnSpPr>
          <p:nvPr/>
        </p:nvCxnSpPr>
        <p:spPr>
          <a:xfrm>
            <a:off x="1366685" y="850332"/>
            <a:ext cx="10648334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8A4C9F2-994C-8C3A-6C21-324DC289C45C}"/>
              </a:ext>
            </a:extLst>
          </p:cNvPr>
          <p:cNvSpPr/>
          <p:nvPr/>
        </p:nvSpPr>
        <p:spPr>
          <a:xfrm>
            <a:off x="1366685" y="1032386"/>
            <a:ext cx="10648334" cy="2841523"/>
          </a:xfrm>
          <a:prstGeom prst="round2Diag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900" b="1" i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Conclusion:</a:t>
            </a:r>
            <a:br>
              <a:rPr lang="en-US" sz="19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1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churn is influenced by multiple factors, including contract type, service offerings, and pricing structure.</a:t>
            </a:r>
          </a:p>
          <a:p>
            <a:r>
              <a:rPr lang="en-US" sz="1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Additionally, the analysis highlights that customer commitment level and perceived value of services play a crucial role in retention. Customers with flexible plans and higher costs tend to switch providers more frequently, indicating the need for stronger engagement strategies.</a:t>
            </a:r>
          </a:p>
          <a:p>
            <a:r>
              <a:rPr lang="en-US" sz="1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Proactively identifying high-risk customers allows businesses to take timely actions and reduce potential revenue loss.</a:t>
            </a:r>
          </a:p>
          <a:p>
            <a:pPr algn="ctr"/>
            <a:endParaRPr lang="en-IN" dirty="0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3DA0E2D0-1E84-732B-16B0-43A35399E8E3}"/>
              </a:ext>
            </a:extLst>
          </p:cNvPr>
          <p:cNvSpPr/>
          <p:nvPr/>
        </p:nvSpPr>
        <p:spPr>
          <a:xfrm>
            <a:off x="1351936" y="4134618"/>
            <a:ext cx="10648334" cy="2433321"/>
          </a:xfrm>
          <a:prstGeom prst="round2Diag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Promote long-term contracts to improve retention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Enhance service quality, especially for high-risk segments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Offer personalized plans and loyalty incentives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Monitor high-charge customers proactively</a:t>
            </a:r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7B506F-7522-7899-BCD2-ACA545DAFC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699" y="94531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0686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 animBg="1"/>
      <p:bldP spid="8" grpId="1" animBg="1"/>
      <p:bldP spid="11" grpId="0" animBg="1"/>
      <p:bldP spid="1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D2D30-F245-606F-832B-76C361DC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DD5ED3-D544-EBB4-BA6D-365372399E95}"/>
              </a:ext>
            </a:extLst>
          </p:cNvPr>
          <p:cNvSpPr/>
          <p:nvPr/>
        </p:nvSpPr>
        <p:spPr>
          <a:xfrm>
            <a:off x="10953135" y="0"/>
            <a:ext cx="123886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14F06-2DA1-001C-EEE8-B0F46D8CF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5" y="88490"/>
            <a:ext cx="10648335" cy="845570"/>
          </a:xfrm>
        </p:spPr>
        <p:txBody>
          <a:bodyPr>
            <a:noAutofit/>
          </a:bodyPr>
          <a:lstStyle/>
          <a:p>
            <a:r>
              <a:rPr lang="en-IN" sz="5800" b="1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Future Scope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C9FD37-DB12-9A2A-8EB6-16973605569A}"/>
              </a:ext>
            </a:extLst>
          </p:cNvPr>
          <p:cNvCxnSpPr>
            <a:cxnSpLocks/>
          </p:cNvCxnSpPr>
          <p:nvPr/>
        </p:nvCxnSpPr>
        <p:spPr>
          <a:xfrm>
            <a:off x="344131" y="934060"/>
            <a:ext cx="104123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BB9F6C-1117-AC66-EF0F-D6E30293599C}"/>
              </a:ext>
            </a:extLst>
          </p:cNvPr>
          <p:cNvSpPr txBox="1"/>
          <p:nvPr/>
        </p:nvSpPr>
        <p:spPr>
          <a:xfrm>
            <a:off x="206479" y="1170038"/>
            <a:ext cx="1055001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This project can be further enhanced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Developing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Machine Learning models</a:t>
            </a: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to predict churn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Implementing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real-time dashboards</a:t>
            </a: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for continuous monitoring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advanced </a:t>
            </a:r>
            <a:r>
              <a:rPr lang="en-US" sz="3200" b="1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segmentation</a:t>
            </a: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B2B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Integrating with business systems for automated decision-making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9FC655E9-6FD8-8346-ED5C-460ACF672B2E}"/>
              </a:ext>
            </a:extLst>
          </p:cNvPr>
          <p:cNvSpPr/>
          <p:nvPr/>
        </p:nvSpPr>
        <p:spPr>
          <a:xfrm>
            <a:off x="2957051" y="5437888"/>
            <a:ext cx="4950542" cy="1150370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5F7F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YOU!!!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1FC07-4935-6F64-6918-9B8750B927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469" l="1736" r="98168">
                        <a14:foregroundMark x1="4339" y1="65612" x2="37608" y2="95612"/>
                        <a14:foregroundMark x1="37608" y1="95612" x2="80328" y2="90102"/>
                        <a14:foregroundMark x1="80328" y1="90102" x2="61234" y2="98469"/>
                        <a14:foregroundMark x1="3472" y1="62959" x2="10415" y2="65612"/>
                        <a14:foregroundMark x1="15526" y1="19184" x2="58631" y2="1837"/>
                        <a14:foregroundMark x1="58631" y1="1837" x2="98264" y2="33776"/>
                        <a14:foregroundMark x1="8679" y1="67449" x2="41755" y2="98673"/>
                        <a14:foregroundMark x1="41755" y1="98673" x2="84185" y2="83878"/>
                        <a14:foregroundMark x1="84185" y1="83878" x2="84474" y2="82959"/>
                        <a14:foregroundMark x1="80135" y1="90306" x2="79364" y2="90306"/>
                        <a14:foregroundMark x1="15526" y1="16429" x2="59113" y2="0"/>
                        <a14:foregroundMark x1="59113" y1="0" x2="95661" y2="36429"/>
                        <a14:foregroundMark x1="54291" y1="3673" x2="57763" y2="9082"/>
                        <a14:foregroundMark x1="56895" y1="2755" x2="56895" y2="2755"/>
                        <a14:foregroundMark x1="56895" y1="2755" x2="56895" y2="2755"/>
                        <a14:foregroundMark x1="56895" y1="2755" x2="62102" y2="9082"/>
                        <a14:foregroundMark x1="4339" y1="69286" x2="31919" y2="95714"/>
                        <a14:foregroundMark x1="6075" y1="68367" x2="39248" y2="95306"/>
                        <a14:foregroundMark x1="39248" y1="95306" x2="40501" y2="95714"/>
                        <a14:foregroundMark x1="61234" y1="918" x2="91803" y2="31939"/>
                        <a14:foregroundMark x1="91803" y1="31939" x2="92285" y2="32857"/>
                        <a14:foregroundMark x1="81003" y1="15510" x2="93153" y2="35612"/>
                        <a14:foregroundMark x1="1736" y1="69286" x2="33655" y2="98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94290"/>
            <a:ext cx="675643" cy="638506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18523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 animBg="1"/>
      <p:bldP spid="5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447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Segoe UI Semibold</vt:lpstr>
      <vt:lpstr>Office Theme</vt:lpstr>
      <vt:lpstr>Customer Churn Analysis</vt:lpstr>
      <vt:lpstr>Problem Statement</vt:lpstr>
      <vt:lpstr>Tools &amp; Technologies Used</vt:lpstr>
      <vt:lpstr>Dataset Overview</vt:lpstr>
      <vt:lpstr>Data Cleaning &amp; Preparation</vt:lpstr>
      <vt:lpstr>Dashboard Overview</vt:lpstr>
      <vt:lpstr>Dashboard Analysis</vt:lpstr>
      <vt:lpstr>Key Insights</vt:lpstr>
      <vt:lpstr>Conclusion &amp; Business Recommendations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Mahalakshmi Yadav</dc:creator>
  <cp:lastModifiedBy>Mahalakshmi Yadav</cp:lastModifiedBy>
  <cp:revision>15</cp:revision>
  <dcterms:created xsi:type="dcterms:W3CDTF">2026-04-28T14:04:34Z</dcterms:created>
  <dcterms:modified xsi:type="dcterms:W3CDTF">2026-04-29T05:37:30Z</dcterms:modified>
</cp:coreProperties>
</file>